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617cba6c-3c22-9997-64f1-5a1ce098cfb7}">
          <p14:sldIdLst>
            <p14:sldId id="256"/>
            <p14:sldId id="257"/>
          </p14:sldIdLst>
        </p14:section>
        <p14:section name="Modelo de datos" id="{cfe700c2-f3f2-e3c2-dc44-38ee068e8a4b}">
          <p14:sldIdLst>
            <p14:sldId id="258"/>
            <p14:sldId id="259"/>
          </p14:sldIdLst>
        </p14:section>
        <p14:section name="Generación del JWT" id="{24a085e4-8c08-690e-2b1e-4d7089555388}">
          <p14:sldIdLst>
            <p14:sldId id="260"/>
            <p14:sldId id="261"/>
            <p14:sldId id="262"/>
          </p14:sldIdLst>
        </p14:section>
        <p14:section name="Autorización por petición" id="{ecd0a744-09c9-aa0e-484d-9095e863f0a3}">
          <p14:sldIdLst>
            <p14:sldId id="263"/>
            <p14:sldId id="264"/>
            <p14:sldId id="265"/>
            <p14:sldId id="266"/>
            <p14:sldId id="267"/>
          </p14:sldIdLst>
        </p14:section>
        <p14:section name="Cierre" id="{e4723940-4bca-64e3-fb4d-581e3f5b582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apoyo para estudiar cómo se conectan las tablas de Identity con el JWT cuando los permisos son claims de los roles. Recorre: tablas, generación del token, los dos modos (Token y Lookup), la decisión en cada petición y la gestión de permisos en caliente.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central: el rol es el contenedor y los permisos son claims del rol (tabla AspNetRoleClaims). Que el token los lleve o no depende de un interruptor de configuración.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AspNetUsers se une a AspNetRoles por la tabla puente AspNetUserRoles. Los permisos son filas de AspNetRoleClaims con ClaimType = permission. Los claims del usuario (department, subscription) están en AspNetUserClaims. RefreshTokens guarda solo el hash del token de renovación.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permisos se siembran desde appsettings.json (Seed:RolePermissions) y se guardan como claims de los roles. Admin tiene los cuatro permisos de cada módulo (se sembraron con el comodín Permissions.Products.* y Permissions.Orders.*), Manager un subconjunto y User solo Products.View.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lecturas arman el token. Los permisos se resuelven siempre, para mostrarlos en la respuesta del login, pero solo se graban dentro del JWT cuando Permissions:Source es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versiones simplificadas de las consultas que Entity Framework ejecuta (las reales aparecen en el log con nivel Information). La cuarta pasa por RoleManager: busca el rol por nombre y lee sus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usuario, misma firma, distinto contenido. Con 8 permisos el token pasa de 519 a 837 caracteres; con 200 pesaría unos 8 KB, cerca del 26 % del límite de cabeceras de Kestrel (se mide en /Diagnostics/token-size). iss y aud se omiten por 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mismo interruptor del artículo. Lookup revoca al instante y mantiene el token pequeño; Token no consulta nada, pero crece y queda desactualizado hasta que expira.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handler nunca llama a Fail: si no cumple, la política simplemente no se satisface. Un usuario sin autenticar recibe 401 porque el handler sale sin evaluar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endpoints exigen el permiso Products.Edit, así que en el seed solo el Admin puede gestionar permisos. GrantAsync hace lo contrario: añade el claim al rol y expulsa la caché.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permisos de gestión (/admin/roles) usan Products.Edit, como en el artículo, así que solo Admin entra. Orders es un segundo módulo: se concedió a Admin con el comodín Permissions.Orders.* y a Manager permiso a permiso. Cada celda es lo que se comprobó en la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se añadió como ejemplo. La lista Permissions.All se construye con ForModule a partir de Modules, así que el seed y el endpoint POST /admin/roles/{role}/permissions reconocen el módulo nuevo sin más cambios.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repasar el código: empieza por Permissions, sigue con el proveedor de políticas y el handler, y termina con el PermissionStore y los controllers.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Permisos basados en roles con ASP.NET Core: tablas, JWT y autorización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De la base de datos al JWT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Cómo se leen roles y permisos de un usuario, y cuándo viajan dentro del token</a:t>
            </a:r>
            <a:endParaRPr lang="en-US" sz="2000" dirty="0"/>
          </a:p>
        </p:txBody>
      </p:sp>
      <p:sp>
        <p:nvSpPr>
          <p:cNvPr id="4" name="Etiqueta de tecnologías"/>
          <p:cNvSpPr txBox="1"/>
          <p:nvPr/>
        </p:nvSpPr>
        <p:spPr>
          <a:xfrm>
            <a:off x="548640" y="5486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ASP.NET Core · Identity · JWT · Permisos como claims de los roles</a:t>
            </a:r>
            <a:endParaRPr lang="en-US" sz="1400" dirty="0"/>
          </a:p>
        </p:txBody>
      </p:sp>
      <p:sp>
        <p:nvSpPr>
          <p:cNvPr id="5" name="Atribución"/>
          <p:cNvSpPr txBox="1"/>
          <p:nvPr/>
        </p:nvSpPr>
        <p:spPr>
          <a:xfrm>
            <a:off x="548640" y="5897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Basado en el artículo de Mukesh Murugan (codewithmukesh), adaptado a controllers</a:t>
            </a:r>
            <a:endParaRPr lang="en-US" sz="1200" dirty="0"/>
          </a:p>
        </p:txBody>
      </p:sp>
      <p:sp>
        <p:nvSpPr>
          <p:cNvPr id="6" name="Conector vertical"/>
          <p:cNvSpPr/>
          <p:nvPr/>
        </p:nvSpPr>
        <p:spPr>
          <a:xfrm>
            <a:off x="9921240" y="2103120"/>
            <a:ext cx="0" cy="32004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7" name="Base de datos (círculo)"/>
          <p:cNvSpPr/>
          <p:nvPr/>
        </p:nvSpPr>
        <p:spPr>
          <a:xfrm>
            <a:off x="9418320" y="16002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Base de datos (icono)" descr="Base de da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1851660"/>
            <a:ext cx="502920" cy="502920"/>
          </a:xfrm>
          <a:prstGeom prst="rect">
            <a:avLst/>
          </a:prstGeom>
        </p:spPr>
      </p:pic>
      <p:sp>
        <p:nvSpPr>
          <p:cNvPr id="9" name="Roles y permisos (círculo)"/>
          <p:cNvSpPr/>
          <p:nvPr/>
        </p:nvSpPr>
        <p:spPr>
          <a:xfrm>
            <a:off x="9418320" y="292608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Roles y permisos (icono)" descr="Roles y permi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0" y="3177540"/>
            <a:ext cx="502920" cy="502920"/>
          </a:xfrm>
          <a:prstGeom prst="rect">
            <a:avLst/>
          </a:prstGeom>
        </p:spPr>
      </p:pic>
      <p:sp>
        <p:nvSpPr>
          <p:cNvPr id="11" name="JWT (círculo)"/>
          <p:cNvSpPr/>
          <p:nvPr/>
        </p:nvSpPr>
        <p:spPr>
          <a:xfrm>
            <a:off x="9418320" y="425196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JWT (icono)" descr="JW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0" y="45034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Qué va en el token y qué se consulta</a:t>
            </a:r>
            <a:endParaRPr lang="en-US" sz="3600" dirty="0"/>
          </a:p>
        </p:txBody>
      </p:sp>
      <p:sp>
        <p:nvSpPr>
          <p:cNvPr id="3" name="Tarjeta Siempre en el JWT"/>
          <p:cNvSpPr/>
          <p:nvPr/>
        </p:nvSpPr>
        <p:spPr>
          <a:xfrm>
            <a:off x="548640" y="1508760"/>
            <a:ext cx="539496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iempre en el JWT (círculo)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iempre en el JWT (icono)" descr="Siempre en el JW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365760" cy="365760"/>
          </a:xfrm>
          <a:prstGeom prst="rect">
            <a:avLst/>
          </a:prstGeom>
        </p:spPr>
      </p:pic>
      <p:sp>
        <p:nvSpPr>
          <p:cNvPr id="6" name="Siempre en el JWT (título)"/>
          <p:cNvSpPr txBox="1"/>
          <p:nvPr/>
        </p:nvSpPr>
        <p:spPr>
          <a:xfrm>
            <a:off x="187452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Siempre en el JWT</a:t>
            </a:r>
            <a:endParaRPr lang="en-US" sz="2200" dirty="0"/>
          </a:p>
        </p:txBody>
      </p:sp>
      <p:sp>
        <p:nvSpPr>
          <p:cNvPr id="7" name="Siempre en el JWT (lista)"/>
          <p:cNvSpPr txBox="1"/>
          <p:nvPr/>
        </p:nvSpPr>
        <p:spPr>
          <a:xfrm>
            <a:off x="914400" y="28346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Identidad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sub, email y name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Roles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un claim role por rol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Claims del usuario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department y subscription</a:t>
            </a:r>
            <a:endParaRPr lang="en-US" sz="1600" dirty="0"/>
          </a:p>
        </p:txBody>
      </p:sp>
      <p:sp>
        <p:nvSpPr>
          <p:cNvPr id="8" name="Siempre en el JWT (nota)"/>
          <p:cNvSpPr txBox="1"/>
          <p:nvPr/>
        </p:nvSpPr>
        <p:spPr>
          <a:xfrm>
            <a:off x="914400" y="4892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 leen al iniciar sesión y al renovar el token.</a:t>
            </a:r>
            <a:endParaRPr lang="en-US" sz="1400" dirty="0"/>
          </a:p>
        </p:txBody>
      </p:sp>
      <p:sp>
        <p:nvSpPr>
          <p:cNvPr id="9" name="Tarjeta Depende de Permissions:Source"/>
          <p:cNvSpPr/>
          <p:nvPr/>
        </p:nvSpPr>
        <p:spPr>
          <a:xfrm>
            <a:off x="6245352" y="1508760"/>
            <a:ext cx="539496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Depende de Permissions:Source (círculo)"/>
          <p:cNvSpPr/>
          <p:nvPr/>
        </p:nvSpPr>
        <p:spPr>
          <a:xfrm>
            <a:off x="6611112" y="18288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pende de Permissions:Source (icono)" descr="Depende de Permissions:Sour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011680"/>
            <a:ext cx="365760" cy="365760"/>
          </a:xfrm>
          <a:prstGeom prst="rect">
            <a:avLst/>
          </a:prstGeom>
        </p:spPr>
      </p:pic>
      <p:sp>
        <p:nvSpPr>
          <p:cNvPr id="12" name="Depende de Permissions:Source (título)"/>
          <p:cNvSpPr txBox="1"/>
          <p:nvPr/>
        </p:nvSpPr>
        <p:spPr>
          <a:xfrm>
            <a:off x="7571232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Depende de Permissions:Source</a:t>
            </a:r>
            <a:endParaRPr lang="en-US" sz="2200" dirty="0"/>
          </a:p>
        </p:txBody>
      </p:sp>
      <p:sp>
        <p:nvSpPr>
          <p:cNvPr id="13" name="Depende de Permissions:Source (lista)"/>
          <p:cNvSpPr txBox="1"/>
          <p:nvPr/>
        </p:nvSpPr>
        <p:spPr>
          <a:xfrm>
            <a:off x="6611112" y="28346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Modo Token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los permisos viajan dentro del JWT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Modo Lookup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se consultan por rol en cada petición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En ambos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son claims del rol, no del usuario</a:t>
            </a:r>
            <a:endParaRPr lang="en-US" sz="1600" dirty="0"/>
          </a:p>
        </p:txBody>
      </p:sp>
      <p:sp>
        <p:nvSpPr>
          <p:cNvPr id="14" name="Depende de Permissions:Source (nota)"/>
          <p:cNvSpPr txBox="1"/>
          <p:nvPr/>
        </p:nvSpPr>
        <p:spPr>
          <a:xfrm>
            <a:off x="6611112" y="4892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Lookup revoca al instante; Token no consulta nada.</a:t>
            </a:r>
            <a:endParaRPr lang="en-US" sz="1400" dirty="0"/>
          </a:p>
        </p:txBody>
      </p:sp>
      <p:sp>
        <p:nvSpPr>
          <p:cNvPr id="15" name="Idea principal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Los permisos pertenecen al rol: un usuario recibe la unión de los permisos de todos sus roles.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Las tablas y sus relaciones</a:t>
            </a:r>
            <a:endParaRPr lang="en-US" sz="3600" dirty="0"/>
          </a:p>
        </p:txBody>
      </p:sp>
      <p:sp>
        <p:nvSpPr>
          <p:cNvPr id="3" name="Leyenda color 1"/>
          <p:cNvSpPr/>
          <p:nvPr/>
        </p:nvSpPr>
        <p:spPr>
          <a:xfrm>
            <a:off x="548640" y="1536192"/>
            <a:ext cx="237744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Leyenda texto 1"/>
          <p:cNvSpPr txBox="1"/>
          <p:nvPr/>
        </p:nvSpPr>
        <p:spPr>
          <a:xfrm>
            <a:off x="93268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Datos que llegan al JWT</a:t>
            </a:r>
            <a:endParaRPr lang="en-US" sz="1400" dirty="0"/>
          </a:p>
        </p:txBody>
      </p:sp>
      <p:sp>
        <p:nvSpPr>
          <p:cNvPr id="5" name="Leyenda color 2"/>
          <p:cNvSpPr/>
          <p:nvPr/>
        </p:nvSpPr>
        <p:spPr>
          <a:xfrm>
            <a:off x="4297680" y="1536192"/>
            <a:ext cx="237744" cy="2377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Leyenda texto 2"/>
          <p:cNvSpPr txBox="1"/>
          <p:nvPr/>
        </p:nvSpPr>
        <p:spPr>
          <a:xfrm>
            <a:off x="468172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Permisos (claims del rol)</a:t>
            </a:r>
            <a:endParaRPr lang="en-US" sz="1400" dirty="0"/>
          </a:p>
        </p:txBody>
      </p:sp>
      <p:sp>
        <p:nvSpPr>
          <p:cNvPr id="7" name="Leyenda color 3"/>
          <p:cNvSpPr/>
          <p:nvPr/>
        </p:nvSpPr>
        <p:spPr>
          <a:xfrm>
            <a:off x="8046720" y="1536192"/>
            <a:ext cx="237744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Leyenda texto 3"/>
          <p:cNvSpPr txBox="1"/>
          <p:nvPr/>
        </p:nvSpPr>
        <p:spPr>
          <a:xfrm>
            <a:off x="843076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 guarda aparte (renovación)</a:t>
            </a:r>
            <a:endParaRPr lang="en-US" sz="1400" dirty="0"/>
          </a:p>
        </p:txBody>
      </p:sp>
      <p:sp>
        <p:nvSpPr>
          <p:cNvPr id="9" name="Línea Users-UserRoles"/>
          <p:cNvSpPr/>
          <p:nvPr/>
        </p:nvSpPr>
        <p:spPr>
          <a:xfrm>
            <a:off x="2926080" y="297180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Línea UserRoles-Roles"/>
          <p:cNvSpPr/>
          <p:nvPr/>
        </p:nvSpPr>
        <p:spPr>
          <a:xfrm>
            <a:off x="5623560" y="297180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Línea Roles-RoleClaims"/>
          <p:cNvSpPr/>
          <p:nvPr/>
        </p:nvSpPr>
        <p:spPr>
          <a:xfrm>
            <a:off x="8229600" y="297180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Línea Users-UserClaims"/>
          <p:cNvSpPr/>
          <p:nvPr/>
        </p:nvSpPr>
        <p:spPr>
          <a:xfrm>
            <a:off x="1280160" y="3657600"/>
            <a:ext cx="0" cy="868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Línea Users-RefreshTokens"/>
          <p:cNvSpPr/>
          <p:nvPr/>
        </p:nvSpPr>
        <p:spPr>
          <a:xfrm>
            <a:off x="2468880" y="3657600"/>
            <a:ext cx="1554480" cy="868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AspNetUsers (cuerpo)"/>
          <p:cNvSpPr/>
          <p:nvPr/>
        </p:nvSpPr>
        <p:spPr>
          <a:xfrm>
            <a:off x="548640" y="2286000"/>
            <a:ext cx="237744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spNetUsers (encabezado)"/>
          <p:cNvSpPr txBox="1"/>
          <p:nvPr/>
        </p:nvSpPr>
        <p:spPr>
          <a:xfrm>
            <a:off x="548640" y="2286000"/>
            <a:ext cx="237744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270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AspNetUsers</a:t>
            </a:r>
            <a:endParaRPr lang="en-US" sz="1400" dirty="0"/>
          </a:p>
        </p:txBody>
      </p:sp>
      <p:sp>
        <p:nvSpPr>
          <p:cNvPr id="16" name="AspNetUsers (campos)"/>
          <p:cNvSpPr txBox="1"/>
          <p:nvPr/>
        </p:nvSpPr>
        <p:spPr>
          <a:xfrm>
            <a:off x="64008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 · Email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FirstName · LastName</a:t>
            </a:r>
            <a:endParaRPr lang="en-US" sz="1200" dirty="0"/>
          </a:p>
        </p:txBody>
      </p:sp>
      <p:sp>
        <p:nvSpPr>
          <p:cNvPr id="17" name="AspNetUserRoles (cuerpo)"/>
          <p:cNvSpPr/>
          <p:nvPr/>
        </p:nvSpPr>
        <p:spPr>
          <a:xfrm>
            <a:off x="3429000" y="2286000"/>
            <a:ext cx="219456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AspNetUserRoles (encabezado)"/>
          <p:cNvSpPr txBox="1"/>
          <p:nvPr/>
        </p:nvSpPr>
        <p:spPr>
          <a:xfrm>
            <a:off x="3429000" y="2286000"/>
            <a:ext cx="219456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270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AspNetUserRoles</a:t>
            </a:r>
            <a:endParaRPr lang="en-US" sz="1400" dirty="0"/>
          </a:p>
        </p:txBody>
      </p:sp>
      <p:sp>
        <p:nvSpPr>
          <p:cNvPr id="19" name="AspNetUserRoles (campos)"/>
          <p:cNvSpPr txBox="1"/>
          <p:nvPr/>
        </p:nvSpPr>
        <p:spPr>
          <a:xfrm>
            <a:off x="3520440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UserId → AspNetUsers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RoleId → AspNetRoles</a:t>
            </a:r>
            <a:endParaRPr lang="en-US" sz="1200" dirty="0"/>
          </a:p>
        </p:txBody>
      </p:sp>
      <p:sp>
        <p:nvSpPr>
          <p:cNvPr id="20" name="AspNetRoles (cuerpo)"/>
          <p:cNvSpPr/>
          <p:nvPr/>
        </p:nvSpPr>
        <p:spPr>
          <a:xfrm>
            <a:off x="6126480" y="2286000"/>
            <a:ext cx="210312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spNetRoles (encabezado)"/>
          <p:cNvSpPr txBox="1"/>
          <p:nvPr/>
        </p:nvSpPr>
        <p:spPr>
          <a:xfrm>
            <a:off x="6126480" y="2286000"/>
            <a:ext cx="210312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270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AspNetRoles</a:t>
            </a:r>
            <a:endParaRPr lang="en-US" sz="1400" dirty="0"/>
          </a:p>
        </p:txBody>
      </p:sp>
      <p:sp>
        <p:nvSpPr>
          <p:cNvPr id="22" name="AspNetRoles (campos)"/>
          <p:cNvSpPr txBox="1"/>
          <p:nvPr/>
        </p:nvSpPr>
        <p:spPr>
          <a:xfrm>
            <a:off x="6217920" y="2743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 ·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· Manager · User</a:t>
            </a:r>
            <a:endParaRPr lang="en-US" sz="1200" dirty="0"/>
          </a:p>
        </p:txBody>
      </p:sp>
      <p:sp>
        <p:nvSpPr>
          <p:cNvPr id="23" name="AspNetRoleClaims (cuerpo)"/>
          <p:cNvSpPr/>
          <p:nvPr/>
        </p:nvSpPr>
        <p:spPr>
          <a:xfrm>
            <a:off x="8732520" y="2286000"/>
            <a:ext cx="292608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spNetRoleClaims (encabezado)"/>
          <p:cNvSpPr txBox="1"/>
          <p:nvPr/>
        </p:nvSpPr>
        <p:spPr>
          <a:xfrm>
            <a:off x="8732520" y="2286000"/>
            <a:ext cx="2926080" cy="4114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270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AspNetRoleClaims</a:t>
            </a:r>
            <a:endParaRPr lang="en-US" sz="1400" dirty="0"/>
          </a:p>
        </p:txBody>
      </p:sp>
      <p:sp>
        <p:nvSpPr>
          <p:cNvPr id="25" name="AspNetRoleClaims (campos)"/>
          <p:cNvSpPr txBox="1"/>
          <p:nvPr/>
        </p:nvSpPr>
        <p:spPr>
          <a:xfrm>
            <a:off x="8823960" y="2743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RoleId · ClaimType · ClaimValue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permission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Permissions.Products.View</a:t>
            </a:r>
            <a:endParaRPr lang="en-US" sz="1200" dirty="0"/>
          </a:p>
        </p:txBody>
      </p:sp>
      <p:sp>
        <p:nvSpPr>
          <p:cNvPr id="26" name="AspNetUserClaims (cuerpo)"/>
          <p:cNvSpPr/>
          <p:nvPr/>
        </p:nvSpPr>
        <p:spPr>
          <a:xfrm>
            <a:off x="548640" y="4526280"/>
            <a:ext cx="301752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AspNetUserClaims (encabezado)"/>
          <p:cNvSpPr txBox="1"/>
          <p:nvPr/>
        </p:nvSpPr>
        <p:spPr>
          <a:xfrm>
            <a:off x="548640" y="4526280"/>
            <a:ext cx="301752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270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AspNetUserClaims</a:t>
            </a:r>
            <a:endParaRPr lang="en-US" sz="1400" dirty="0"/>
          </a:p>
        </p:txBody>
      </p:sp>
      <p:sp>
        <p:nvSpPr>
          <p:cNvPr id="28" name="AspNetUserClaims (campos)"/>
          <p:cNvSpPr txBox="1"/>
          <p:nvPr/>
        </p:nvSpPr>
        <p:spPr>
          <a:xfrm>
            <a:off x="640080" y="49834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UserId · ClaimType · ClaimValue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department · subscription</a:t>
            </a:r>
            <a:endParaRPr lang="en-US" sz="1200" dirty="0"/>
          </a:p>
        </p:txBody>
      </p:sp>
      <p:sp>
        <p:nvSpPr>
          <p:cNvPr id="29" name="RefreshTokens (cuerpo)"/>
          <p:cNvSpPr/>
          <p:nvPr/>
        </p:nvSpPr>
        <p:spPr>
          <a:xfrm>
            <a:off x="4023360" y="4526280"/>
            <a:ext cx="2743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RefreshTokens (encabezado)"/>
          <p:cNvSpPr txBox="1"/>
          <p:nvPr/>
        </p:nvSpPr>
        <p:spPr>
          <a:xfrm>
            <a:off x="4023360" y="4526280"/>
            <a:ext cx="2743200" cy="41148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1270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RefreshTokens</a:t>
            </a:r>
            <a:endParaRPr lang="en-US" sz="1400" dirty="0"/>
          </a:p>
        </p:txBody>
      </p:sp>
      <p:sp>
        <p:nvSpPr>
          <p:cNvPr id="31" name="RefreshTokens (campos)"/>
          <p:cNvSpPr txBox="1"/>
          <p:nvPr/>
        </p:nvSpPr>
        <p:spPr>
          <a:xfrm>
            <a:off x="4114800" y="4983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UserId · TokenHash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Expires · Revoked</a:t>
            </a:r>
            <a:endParaRPr lang="en-US" sz="1200" dirty="0"/>
          </a:p>
        </p:txBody>
      </p:sp>
      <p:sp>
        <p:nvSpPr>
          <p:cNvPr id="32" name="Nota sin tablas nuevas"/>
          <p:cNvSpPr txBox="1"/>
          <p:nvPr/>
        </p:nvSpPr>
        <p:spPr>
          <a:xfrm>
            <a:off x="7315200" y="452628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hay tablas nuevas: AspNetRoleClaims ya existe en Identity y es donde viven los permisos.</a:t>
            </a:r>
            <a:endParaRPr lang="en-US" sz="1600" dirty="0"/>
          </a:p>
        </p:txBody>
      </p:sp>
      <p:sp>
        <p:nvSpPr>
          <p:cNvPr id="33" name="Nota de relaciones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 usuario hereda los permisos de todos sus roles. Borrar un usuario o un rol borra sus filas en cascada.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Los datos del seed, tabla por tabla</a:t>
            </a:r>
            <a:endParaRPr lang="en-US" sz="3600" dirty="0"/>
          </a:p>
        </p:txBody>
      </p:sp>
      <p:sp>
        <p:nvSpPr>
          <p:cNvPr id="3" name="Tarjeta usuarios y roles"/>
          <p:cNvSpPr/>
          <p:nvPr/>
        </p:nvSpPr>
        <p:spPr>
          <a:xfrm>
            <a:off x="548640" y="1463040"/>
            <a:ext cx="54406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Usuarios y roles (círculo)"/>
          <p:cNvSpPr/>
          <p:nvPr/>
        </p:nvSpPr>
        <p:spPr>
          <a:xfrm>
            <a:off x="777240" y="16276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Usuarios y roles (icono)" descr="Usuarios y ro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41932"/>
            <a:ext cx="228600" cy="228600"/>
          </a:xfrm>
          <a:prstGeom prst="rect">
            <a:avLst/>
          </a:prstGeom>
        </p:spPr>
      </p:pic>
      <p:sp>
        <p:nvSpPr>
          <p:cNvPr id="6" name="Usuarios y roles (título)"/>
          <p:cNvSpPr txBox="1"/>
          <p:nvPr/>
        </p:nvSpPr>
        <p:spPr>
          <a:xfrm>
            <a:off x="1371600" y="1627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AspNetUserRoles + AspNetRoles</a:t>
            </a:r>
            <a:endParaRPr lang="en-US" sz="1500" dirty="0"/>
          </a:p>
        </p:txBody>
      </p:sp>
      <p:graphicFrame>
        <p:nvGraphicFramePr>
          <p:cNvPr id="5" name="Tabla de ejemp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4983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57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Usuario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admin@example.com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manager@example.com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user@example.com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arjeta claims del usuario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Claims del usuario (círculo)"/>
          <p:cNvSpPr/>
          <p:nvPr/>
        </p:nvSpPr>
        <p:spPr>
          <a:xfrm>
            <a:off x="777240" y="4050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laims del usuario (icono)" descr="Claims del usua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4165092"/>
            <a:ext cx="228600" cy="228600"/>
          </a:xfrm>
          <a:prstGeom prst="rect">
            <a:avLst/>
          </a:prstGeom>
        </p:spPr>
      </p:pic>
      <p:sp>
        <p:nvSpPr>
          <p:cNvPr id="11" name="Claims del usuario (título)"/>
          <p:cNvSpPr txBox="1"/>
          <p:nvPr/>
        </p:nvSpPr>
        <p:spPr>
          <a:xfrm>
            <a:off x="1371600" y="4050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AspNetUserClaims (admin@example.com)</a:t>
            </a:r>
            <a:endParaRPr lang="en-US" sz="1500" dirty="0"/>
          </a:p>
        </p:txBody>
      </p:sp>
      <p:graphicFrame>
        <p:nvGraphicFramePr>
          <p:cNvPr id="9" name="Tabla de ejemp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663440"/>
          <a:ext cx="4983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06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ClaimType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ClaimValue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subscription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premium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arjeta permisos de los roles"/>
          <p:cNvSpPr/>
          <p:nvPr/>
        </p:nvSpPr>
        <p:spPr>
          <a:xfrm>
            <a:off x="6199632" y="1463040"/>
            <a:ext cx="5440680" cy="4617720"/>
          </a:xfrm>
          <a:prstGeom prst="roundRect">
            <a:avLst>
              <a:gd name="adj" fmla="val 198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ermisos de los roles (círculo)"/>
          <p:cNvSpPr/>
          <p:nvPr/>
        </p:nvSpPr>
        <p:spPr>
          <a:xfrm>
            <a:off x="6428232" y="162763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ermisos de los roles (icono)" descr="Permisos de los ro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741932"/>
            <a:ext cx="228600" cy="228600"/>
          </a:xfrm>
          <a:prstGeom prst="rect">
            <a:avLst/>
          </a:prstGeom>
        </p:spPr>
      </p:pic>
      <p:sp>
        <p:nvSpPr>
          <p:cNvPr id="16" name="Permisos (título)"/>
          <p:cNvSpPr txBox="1"/>
          <p:nvPr/>
        </p:nvSpPr>
        <p:spPr>
          <a:xfrm>
            <a:off x="7022592" y="16276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AspNetRoleClaims (ClaimType = permission)</a:t>
            </a:r>
            <a:endParaRPr lang="en-US" sz="1500" dirty="0"/>
          </a:p>
        </p:txBody>
      </p:sp>
      <p:graphicFrame>
        <p:nvGraphicFramePr>
          <p:cNvPr id="13" name="Tabla de permisos por ro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2286000"/>
          <a:ext cx="4983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Módulo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Acciones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View, Create, Edit, 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View, Create, Edit, 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View, Create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View, Create, Edit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Nota filas de permisos"/>
          <p:cNvSpPr txBox="1"/>
          <p:nvPr/>
        </p:nvSpPr>
        <p:spPr>
          <a:xfrm>
            <a:off x="6428232" y="51663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fila de la base es un permiso: ClaimValue = Permissions.Módulo.Acción. En total, 14 filas.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se genera el JWT</a:t>
            </a:r>
            <a:endParaRPr lang="en-US" sz="3600" dirty="0"/>
          </a:p>
        </p:txBody>
      </p:sp>
      <p:sp>
        <p:nvSpPr>
          <p:cNvPr id="3" name="Paso 1"/>
          <p:cNvSpPr/>
          <p:nvPr/>
        </p:nvSpPr>
        <p:spPr>
          <a:xfrm>
            <a:off x="548640" y="1463040"/>
            <a:ext cx="1993392" cy="29718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so 1 círculo"/>
          <p:cNvSpPr/>
          <p:nvPr/>
        </p:nvSpPr>
        <p:spPr>
          <a:xfrm>
            <a:off x="731520" y="16276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o 1 círculo (número)"/>
          <p:cNvSpPr txBox="1"/>
          <p:nvPr/>
        </p:nvSpPr>
        <p:spPr>
          <a:xfrm>
            <a:off x="73152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aso 1 título"/>
          <p:cNvSpPr txBox="1"/>
          <p:nvPr/>
        </p:nvSpPr>
        <p:spPr>
          <a:xfrm>
            <a:off x="731520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Login</a:t>
            </a:r>
            <a:endParaRPr lang="en-US" sz="1800" dirty="0"/>
          </a:p>
        </p:txBody>
      </p:sp>
      <p:sp>
        <p:nvSpPr>
          <p:cNvPr id="7" name="Paso 1 detalle"/>
          <p:cNvSpPr txBox="1"/>
          <p:nvPr/>
        </p:nvSpPr>
        <p:spPr>
          <a:xfrm>
            <a:off x="731520" y="269748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 busca al usuario por email y se verifica la contraseña.</a:t>
            </a:r>
            <a:endParaRPr lang="en-US" sz="1400" dirty="0"/>
          </a:p>
        </p:txBody>
      </p:sp>
      <p:sp>
        <p:nvSpPr>
          <p:cNvPr id="8" name="Paso 1 tabla"/>
          <p:cNvSpPr txBox="1"/>
          <p:nvPr/>
        </p:nvSpPr>
        <p:spPr>
          <a:xfrm>
            <a:off x="73152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AspNetUsers</a:t>
            </a:r>
            <a:endParaRPr lang="en-US" sz="1200" dirty="0"/>
          </a:p>
        </p:txBody>
      </p:sp>
      <p:sp>
        <p:nvSpPr>
          <p:cNvPr id="9" name="Flecha 1"/>
          <p:cNvSpPr/>
          <p:nvPr/>
        </p:nvSpPr>
        <p:spPr>
          <a:xfrm>
            <a:off x="2578608" y="2788920"/>
            <a:ext cx="20116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o 2"/>
          <p:cNvSpPr/>
          <p:nvPr/>
        </p:nvSpPr>
        <p:spPr>
          <a:xfrm>
            <a:off x="2816352" y="1463040"/>
            <a:ext cx="1993392" cy="29718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aso 2 círculo"/>
          <p:cNvSpPr/>
          <p:nvPr/>
        </p:nvSpPr>
        <p:spPr>
          <a:xfrm>
            <a:off x="2999232" y="16276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aso 2 círculo (número)"/>
          <p:cNvSpPr txBox="1"/>
          <p:nvPr/>
        </p:nvSpPr>
        <p:spPr>
          <a:xfrm>
            <a:off x="2999232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Paso 2 título"/>
          <p:cNvSpPr txBox="1"/>
          <p:nvPr/>
        </p:nvSpPr>
        <p:spPr>
          <a:xfrm>
            <a:off x="2999232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Roles</a:t>
            </a:r>
            <a:endParaRPr lang="en-US" sz="1800" dirty="0"/>
          </a:p>
        </p:txBody>
      </p:sp>
      <p:sp>
        <p:nvSpPr>
          <p:cNvPr id="14" name="Paso 2 detalle"/>
          <p:cNvSpPr txBox="1"/>
          <p:nvPr/>
        </p:nvSpPr>
        <p:spPr>
          <a:xfrm>
            <a:off x="2999232" y="269748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GetRolesAsync une la tabla puente con los roles.</a:t>
            </a:r>
            <a:endParaRPr lang="en-US" sz="1400" dirty="0"/>
          </a:p>
        </p:txBody>
      </p:sp>
      <p:sp>
        <p:nvSpPr>
          <p:cNvPr id="15" name="Paso 2 tabla"/>
          <p:cNvSpPr txBox="1"/>
          <p:nvPr/>
        </p:nvSpPr>
        <p:spPr>
          <a:xfrm>
            <a:off x="2999232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AspNetUserRoles + AspNetRoles</a:t>
            </a:r>
            <a:endParaRPr lang="en-US" sz="1200" dirty="0"/>
          </a:p>
        </p:txBody>
      </p:sp>
      <p:sp>
        <p:nvSpPr>
          <p:cNvPr id="16" name="Flecha 2"/>
          <p:cNvSpPr/>
          <p:nvPr/>
        </p:nvSpPr>
        <p:spPr>
          <a:xfrm>
            <a:off x="4846320" y="2788920"/>
            <a:ext cx="20116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o 3"/>
          <p:cNvSpPr/>
          <p:nvPr/>
        </p:nvSpPr>
        <p:spPr>
          <a:xfrm>
            <a:off x="5084064" y="1463040"/>
            <a:ext cx="1993392" cy="29718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Paso 3 círculo"/>
          <p:cNvSpPr/>
          <p:nvPr/>
        </p:nvSpPr>
        <p:spPr>
          <a:xfrm>
            <a:off x="5266944" y="16276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Paso 3 círculo (número)"/>
          <p:cNvSpPr txBox="1"/>
          <p:nvPr/>
        </p:nvSpPr>
        <p:spPr>
          <a:xfrm>
            <a:off x="526694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Paso 3 título"/>
          <p:cNvSpPr txBox="1"/>
          <p:nvPr/>
        </p:nvSpPr>
        <p:spPr>
          <a:xfrm>
            <a:off x="5266944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Claims</a:t>
            </a:r>
            <a:endParaRPr lang="en-US" sz="1800" dirty="0"/>
          </a:p>
        </p:txBody>
      </p:sp>
      <p:sp>
        <p:nvSpPr>
          <p:cNvPr id="21" name="Paso 3 detalle"/>
          <p:cNvSpPr txBox="1"/>
          <p:nvPr/>
        </p:nvSpPr>
        <p:spPr>
          <a:xfrm>
            <a:off x="5266944" y="269748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GetClaimsAsync lee department y subscription.</a:t>
            </a:r>
            <a:endParaRPr lang="en-US" sz="1400" dirty="0"/>
          </a:p>
        </p:txBody>
      </p:sp>
      <p:sp>
        <p:nvSpPr>
          <p:cNvPr id="22" name="Paso 3 tabla"/>
          <p:cNvSpPr txBox="1"/>
          <p:nvPr/>
        </p:nvSpPr>
        <p:spPr>
          <a:xfrm>
            <a:off x="5266944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AspNetUserClaims</a:t>
            </a:r>
            <a:endParaRPr lang="en-US" sz="1200" dirty="0"/>
          </a:p>
        </p:txBody>
      </p:sp>
      <p:sp>
        <p:nvSpPr>
          <p:cNvPr id="23" name="Flecha 3"/>
          <p:cNvSpPr/>
          <p:nvPr/>
        </p:nvSpPr>
        <p:spPr>
          <a:xfrm>
            <a:off x="7114032" y="2788920"/>
            <a:ext cx="20116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Paso 4"/>
          <p:cNvSpPr/>
          <p:nvPr/>
        </p:nvSpPr>
        <p:spPr>
          <a:xfrm>
            <a:off x="7351776" y="1463040"/>
            <a:ext cx="1993392" cy="29718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Paso 4 círculo"/>
          <p:cNvSpPr/>
          <p:nvPr/>
        </p:nvSpPr>
        <p:spPr>
          <a:xfrm>
            <a:off x="7534656" y="162763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Paso 4 círculo (número)"/>
          <p:cNvSpPr txBox="1"/>
          <p:nvPr/>
        </p:nvSpPr>
        <p:spPr>
          <a:xfrm>
            <a:off x="7534656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Paso 4 título"/>
          <p:cNvSpPr txBox="1"/>
          <p:nvPr/>
        </p:nvSpPr>
        <p:spPr>
          <a:xfrm>
            <a:off x="7534656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Permisos</a:t>
            </a:r>
            <a:endParaRPr lang="en-US" sz="1800" dirty="0"/>
          </a:p>
        </p:txBody>
      </p:sp>
      <p:sp>
        <p:nvSpPr>
          <p:cNvPr id="28" name="Paso 4 detalle"/>
          <p:cNvSpPr txBox="1"/>
          <p:nvPr/>
        </p:nvSpPr>
        <p:spPr>
          <a:xfrm>
            <a:off x="7534656" y="269748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El store une los permisos de todos los roles.</a:t>
            </a:r>
            <a:endParaRPr lang="en-US" sz="1400" dirty="0"/>
          </a:p>
        </p:txBody>
      </p:sp>
      <p:sp>
        <p:nvSpPr>
          <p:cNvPr id="29" name="Paso 4 tabla"/>
          <p:cNvSpPr txBox="1"/>
          <p:nvPr/>
        </p:nvSpPr>
        <p:spPr>
          <a:xfrm>
            <a:off x="7534656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AspNetRoleClaims</a:t>
            </a:r>
            <a:endParaRPr lang="en-US" sz="1200" dirty="0"/>
          </a:p>
        </p:txBody>
      </p:sp>
      <p:sp>
        <p:nvSpPr>
          <p:cNvPr id="30" name="Flecha 4"/>
          <p:cNvSpPr/>
          <p:nvPr/>
        </p:nvSpPr>
        <p:spPr>
          <a:xfrm>
            <a:off x="9381744" y="2788920"/>
            <a:ext cx="20116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Paso 5"/>
          <p:cNvSpPr/>
          <p:nvPr/>
        </p:nvSpPr>
        <p:spPr>
          <a:xfrm>
            <a:off x="9619488" y="1463040"/>
            <a:ext cx="1993392" cy="29718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Paso 5 círculo"/>
          <p:cNvSpPr/>
          <p:nvPr/>
        </p:nvSpPr>
        <p:spPr>
          <a:xfrm>
            <a:off x="9802368" y="1627632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Paso 5 círculo (número)"/>
          <p:cNvSpPr txBox="1"/>
          <p:nvPr/>
        </p:nvSpPr>
        <p:spPr>
          <a:xfrm>
            <a:off x="980236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Paso 5 título"/>
          <p:cNvSpPr txBox="1"/>
          <p:nvPr/>
        </p:nvSpPr>
        <p:spPr>
          <a:xfrm>
            <a:off x="9802368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Firma</a:t>
            </a:r>
            <a:endParaRPr lang="en-US" sz="1800" dirty="0"/>
          </a:p>
        </p:txBody>
      </p:sp>
      <p:sp>
        <p:nvSpPr>
          <p:cNvPr id="35" name="Paso 5 detalle"/>
          <p:cNvSpPr txBox="1"/>
          <p:nvPr/>
        </p:nvSpPr>
        <p:spPr>
          <a:xfrm>
            <a:off x="9802368" y="269748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TokenService firma. Los permisos entran solo en modo Token.</a:t>
            </a:r>
            <a:endParaRPr lang="en-US" sz="1400" dirty="0"/>
          </a:p>
        </p:txBody>
      </p:sp>
      <p:sp>
        <p:nvSpPr>
          <p:cNvPr id="36" name="Paso 5 tabla"/>
          <p:cNvSpPr txBox="1"/>
          <p:nvPr/>
        </p:nvSpPr>
        <p:spPr>
          <a:xfrm>
            <a:off x="9802368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Source=Token</a:t>
            </a:r>
            <a:endParaRPr lang="en-US" sz="1200" dirty="0"/>
          </a:p>
        </p:txBody>
      </p:sp>
      <p:sp>
        <p:nvSpPr>
          <p:cNvPr id="37" name="Etiqueta del código"/>
          <p:cNvSpPr txBox="1"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AuthController.IssueTokensAsync: el mismo código en register, login y refresh</a:t>
            </a:r>
            <a:endParaRPr lang="en-US" sz="1400" dirty="0"/>
          </a:p>
        </p:txBody>
      </p:sp>
      <p:sp>
        <p:nvSpPr>
          <p:cNvPr id="38" name="Código IssueTokensAsync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Código IssueTokensAsync (texto)"/>
          <p:cNvSpPr txBox="1"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roles       = await userManager.GetRolesAsync(user);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claims      = await userManager.GetClaimsAsync(user);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permissions = await permissionStore.GetForRolesAsync(roles);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tokenService.CreateAccessToken(user, roles, claims, permissions);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Las consultas que arman el token</a:t>
            </a:r>
            <a:endParaRPr lang="en-US" sz="3600" dirty="0"/>
          </a:p>
        </p:txBody>
      </p:sp>
      <p:sp>
        <p:nvSpPr>
          <p:cNvPr id="3" name="Consulta 1 número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onsulta 1 número (número)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Consulta 1 SQL"/>
          <p:cNvSpPr/>
          <p:nvPr/>
        </p:nvSpPr>
        <p:spPr>
          <a:xfrm>
            <a:off x="1325880" y="1417320"/>
            <a:ext cx="6492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nsulta 1 SQL (texto)"/>
          <p:cNvSpPr txBox="1"/>
          <p:nvPr/>
        </p:nvSpPr>
        <p:spPr>
          <a:xfrm>
            <a:off x="1554480" y="1554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AspNetUsers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NormalizedEmail = @email</a:t>
            </a:r>
            <a:endParaRPr lang="en-US" sz="1300" dirty="0"/>
          </a:p>
        </p:txBody>
      </p:sp>
      <p:sp>
        <p:nvSpPr>
          <p:cNvPr id="7" name="Consulta 1 título"/>
          <p:cNvSpPr txBox="1"/>
          <p:nvPr/>
        </p:nvSpPr>
        <p:spPr>
          <a:xfrm>
            <a:off x="8183880" y="1490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Usuario</a:t>
            </a:r>
            <a:endParaRPr lang="en-US" sz="1800" dirty="0"/>
          </a:p>
        </p:txBody>
      </p:sp>
      <p:sp>
        <p:nvSpPr>
          <p:cNvPr id="8" name="Consulta 1 resultado"/>
          <p:cNvSpPr txBox="1"/>
          <p:nvPr/>
        </p:nvSpPr>
        <p:spPr>
          <a:xfrm>
            <a:off x="8183880" y="18928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Aporta sub, email y name.</a:t>
            </a:r>
            <a:endParaRPr lang="en-US" sz="1500" dirty="0"/>
          </a:p>
        </p:txBody>
      </p:sp>
      <p:sp>
        <p:nvSpPr>
          <p:cNvPr id="9" name="Consulta 2 número"/>
          <p:cNvSpPr/>
          <p:nvPr/>
        </p:nvSpPr>
        <p:spPr>
          <a:xfrm>
            <a:off x="548640" y="28529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onsulta 2 número (número)"/>
          <p:cNvSpPr txBox="1"/>
          <p:nvPr/>
        </p:nvSpPr>
        <p:spPr>
          <a:xfrm>
            <a:off x="5486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onsulta 2 SQL"/>
          <p:cNvSpPr/>
          <p:nvPr/>
        </p:nvSpPr>
        <p:spPr>
          <a:xfrm>
            <a:off x="1325880" y="2624328"/>
            <a:ext cx="6492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Consulta 2 SQL (texto)"/>
          <p:cNvSpPr txBox="1"/>
          <p:nvPr/>
        </p:nvSpPr>
        <p:spPr>
          <a:xfrm>
            <a:off x="1554480" y="276148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r.Name FROM AspNetUserRoles 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AspNetRoles r ON ur.RoleId = r.Id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ur.UserId = @userId</a:t>
            </a:r>
            <a:endParaRPr lang="en-US" sz="1300" dirty="0"/>
          </a:p>
        </p:txBody>
      </p:sp>
      <p:sp>
        <p:nvSpPr>
          <p:cNvPr id="13" name="Consulta 2 título"/>
          <p:cNvSpPr txBox="1"/>
          <p:nvPr/>
        </p:nvSpPr>
        <p:spPr>
          <a:xfrm>
            <a:off x="818388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Roles</a:t>
            </a:r>
            <a:endParaRPr lang="en-US" sz="1800" dirty="0"/>
          </a:p>
        </p:txBody>
      </p:sp>
      <p:sp>
        <p:nvSpPr>
          <p:cNvPr id="14" name="Consulta 2 resultado"/>
          <p:cNvSpPr txBox="1"/>
          <p:nvPr/>
        </p:nvSpPr>
        <p:spPr>
          <a:xfrm>
            <a:off x="8183880" y="30998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Un claim role por fila.</a:t>
            </a:r>
            <a:endParaRPr lang="en-US" sz="1500" dirty="0"/>
          </a:p>
        </p:txBody>
      </p:sp>
      <p:sp>
        <p:nvSpPr>
          <p:cNvPr id="15" name="Consulta 3 número"/>
          <p:cNvSpPr/>
          <p:nvPr/>
        </p:nvSpPr>
        <p:spPr>
          <a:xfrm>
            <a:off x="548640" y="405993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onsulta 3 número (número)"/>
          <p:cNvSpPr txBox="1"/>
          <p:nvPr/>
        </p:nvSpPr>
        <p:spPr>
          <a:xfrm>
            <a:off x="54864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Consulta 3 SQL"/>
          <p:cNvSpPr/>
          <p:nvPr/>
        </p:nvSpPr>
        <p:spPr>
          <a:xfrm>
            <a:off x="1325880" y="3831336"/>
            <a:ext cx="6492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Consulta 3 SQL (texto)"/>
          <p:cNvSpPr txBox="1"/>
          <p:nvPr/>
        </p:nvSpPr>
        <p:spPr>
          <a:xfrm>
            <a:off x="1554480" y="396849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ClaimType, ClaimValue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AspNetUserClaims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UserId = @userId</a:t>
            </a:r>
            <a:endParaRPr lang="en-US" sz="1300" dirty="0"/>
          </a:p>
        </p:txBody>
      </p:sp>
      <p:sp>
        <p:nvSpPr>
          <p:cNvPr id="19" name="Consulta 3 título"/>
          <p:cNvSpPr txBox="1"/>
          <p:nvPr/>
        </p:nvSpPr>
        <p:spPr>
          <a:xfrm>
            <a:off x="8183880" y="3904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Claims del usuario</a:t>
            </a:r>
            <a:endParaRPr lang="en-US" sz="1800" dirty="0"/>
          </a:p>
        </p:txBody>
      </p:sp>
      <p:sp>
        <p:nvSpPr>
          <p:cNvPr id="20" name="Consulta 3 resultado"/>
          <p:cNvSpPr txBox="1"/>
          <p:nvPr/>
        </p:nvSpPr>
        <p:spPr>
          <a:xfrm>
            <a:off x="8183880" y="43068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department y subscription.</a:t>
            </a:r>
            <a:endParaRPr lang="en-US" sz="1500" dirty="0"/>
          </a:p>
        </p:txBody>
      </p:sp>
      <p:sp>
        <p:nvSpPr>
          <p:cNvPr id="21" name="Consulta 4 número"/>
          <p:cNvSpPr/>
          <p:nvPr/>
        </p:nvSpPr>
        <p:spPr>
          <a:xfrm>
            <a:off x="548640" y="526694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Consulta 4 número (número)"/>
          <p:cNvSpPr txBox="1"/>
          <p:nvPr/>
        </p:nvSpPr>
        <p:spPr>
          <a:xfrm>
            <a:off x="54864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Consulta 4 SQL"/>
          <p:cNvSpPr/>
          <p:nvPr/>
        </p:nvSpPr>
        <p:spPr>
          <a:xfrm>
            <a:off x="1325880" y="5038344"/>
            <a:ext cx="6492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Consulta 4 SQL (texto)"/>
          <p:cNvSpPr txBox="1"/>
          <p:nvPr/>
        </p:nvSpPr>
        <p:spPr>
          <a:xfrm>
            <a:off x="1554480" y="517550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ClaimValue FROM AspNetRoleClaims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RoleId = @roleId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ClaimType = 'permission'</a:t>
            </a:r>
            <a:endParaRPr lang="en-US" sz="1300" dirty="0"/>
          </a:p>
        </p:txBody>
      </p:sp>
      <p:sp>
        <p:nvSpPr>
          <p:cNvPr id="25" name="Consulta 4 título"/>
          <p:cNvSpPr txBox="1"/>
          <p:nvPr/>
        </p:nvSpPr>
        <p:spPr>
          <a:xfrm>
            <a:off x="8183880" y="51114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Permisos del rol</a:t>
            </a:r>
            <a:endParaRPr lang="en-US" sz="1800" dirty="0"/>
          </a:p>
        </p:txBody>
      </p:sp>
      <p:sp>
        <p:nvSpPr>
          <p:cNvPr id="26" name="Consulta 4 resultado"/>
          <p:cNvSpPr txBox="1"/>
          <p:nvPr/>
        </p:nvSpPr>
        <p:spPr>
          <a:xfrm>
            <a:off x="8183880" y="55138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Una vez por rol: luego responde la caché.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El JWT resultante según el modo</a:t>
            </a:r>
            <a:endParaRPr lang="en-US" sz="3600" dirty="0"/>
          </a:p>
        </p:txBody>
      </p:sp>
      <p:sp>
        <p:nvSpPr>
          <p:cNvPr id="3" name="Título modo Lookup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Modo Lookup</a:t>
            </a:r>
            <a:endParaRPr lang="en-US" sz="1800" dirty="0"/>
          </a:p>
        </p:txBody>
      </p:sp>
      <p:sp>
        <p:nvSpPr>
          <p:cNvPr id="4" name="Payload Lookup"/>
          <p:cNvSpPr/>
          <p:nvPr/>
        </p:nvSpPr>
        <p:spPr>
          <a:xfrm>
            <a:off x="548640" y="1828800"/>
            <a:ext cx="539496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ayload Lookup (texto)"/>
          <p:cNvSpPr txBox="1"/>
          <p:nvPr/>
        </p:nvSpPr>
        <p:spPr>
          <a:xfrm>
            <a:off x="777240" y="19659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         "3f9c…e1",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       "admin@example.com",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        "Admin Root",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        "Admin",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"department":   "engineering",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"subscription": "premium",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"jti":          "b8d5…45",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         "+15 min"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Nota modo Lookup"/>
          <p:cNvSpPr txBox="1"/>
          <p:nvPr/>
        </p:nvSpPr>
        <p:spPr>
          <a:xfrm>
            <a:off x="548640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Los permisos no viajan. Token de 519 caracteres en la prueba.</a:t>
            </a:r>
            <a:endParaRPr lang="en-US" sz="1500" dirty="0"/>
          </a:p>
        </p:txBody>
      </p:sp>
      <p:sp>
        <p:nvSpPr>
          <p:cNvPr id="7" name="Título modo Token"/>
          <p:cNvSpPr txBox="1"/>
          <p:nvPr/>
        </p:nvSpPr>
        <p:spPr>
          <a:xfrm>
            <a:off x="6245352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Modo Token</a:t>
            </a:r>
            <a:endParaRPr lang="en-US" sz="1800" dirty="0"/>
          </a:p>
        </p:txBody>
      </p:sp>
      <p:sp>
        <p:nvSpPr>
          <p:cNvPr id="8" name="Payload Token"/>
          <p:cNvSpPr/>
          <p:nvPr/>
        </p:nvSpPr>
        <p:spPr>
          <a:xfrm>
            <a:off x="6245352" y="1828800"/>
            <a:ext cx="539496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Payload Token (texto)"/>
          <p:cNvSpPr txBox="1"/>
          <p:nvPr/>
        </p:nvSpPr>
        <p:spPr>
          <a:xfrm>
            <a:off x="6473952" y="19659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         "3f9c…e1",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       "admin@example.com",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        "Admin Root",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        "Admin",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"department":   "engineering",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"subscription": "premium",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"Permissions.Products.View",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"Permissions.Products.Create",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"… 6 más",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"jti":          "b8d5…45"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Nota modo Token"/>
          <p:cNvSpPr txBox="1"/>
          <p:nvPr/>
        </p:nvSpPr>
        <p:spPr>
          <a:xfrm>
            <a:off x="6245352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Cada permiso es un claim más. Token de 837 caracteres con 8 permisos.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Dos modos: Token o Lookup</a:t>
            </a:r>
            <a:endParaRPr lang="en-US" sz="3600" dirty="0"/>
          </a:p>
        </p:txBody>
      </p:sp>
      <p:graphicFrame>
        <p:nvGraphicFramePr>
          <p:cNvPr id="9" name="Comparación de mo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2743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Lookup (por defecto)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Token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Qué viaja en el JWT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Solo los roles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Roles y todos los permisos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Cómo se decide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PermissionStore, con caché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Claims permission del token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Tamaño del token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Pequeño y constante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Crece con cada permiso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Revocar un permiso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Inmediato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Cuando el token expira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Costo por petición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Una consulta cacheada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Ninguno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rjeta prueba de revocación"/>
          <p:cNvSpPr/>
          <p:nvPr/>
        </p:nvSpPr>
        <p:spPr>
          <a:xfrm>
            <a:off x="8321040" y="1463040"/>
            <a:ext cx="3337560" cy="3950208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rueba título"/>
          <p:cNvSpPr txBox="1"/>
          <p:nvPr/>
        </p:nvSpPr>
        <p:spPr>
          <a:xfrm>
            <a:off x="8595360" y="1645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La prueba</a:t>
            </a:r>
            <a:endParaRPr lang="en-US" sz="1800" dirty="0"/>
          </a:p>
        </p:txBody>
      </p:sp>
      <p:sp>
        <p:nvSpPr>
          <p:cNvPr id="6" name="Prueba descripción"/>
          <p:cNvSpPr txBox="1"/>
          <p:nvPr/>
        </p:nvSpPr>
        <p:spPr>
          <a:xfrm>
            <a:off x="8595360" y="2057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Revocar Create al rol Manager y llamar con el mismo token:</a:t>
            </a:r>
            <a:endParaRPr lang="en-US" sz="1400" dirty="0"/>
          </a:p>
        </p:txBody>
      </p:sp>
      <p:sp>
        <p:nvSpPr>
          <p:cNvPr id="7" name="Resultado Lookup"/>
          <p:cNvSpPr/>
          <p:nvPr/>
        </p:nvSpPr>
        <p:spPr>
          <a:xfrm>
            <a:off x="8595360" y="3017520"/>
            <a:ext cx="278892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Resultado Lookup texto"/>
          <p:cNvSpPr txBox="1"/>
          <p:nvPr/>
        </p:nvSpPr>
        <p:spPr>
          <a:xfrm>
            <a:off x="8778240" y="30175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Lookup: 403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 inmediato</a:t>
            </a:r>
            <a:endParaRPr lang="en-US" sz="2000" dirty="0"/>
          </a:p>
        </p:txBody>
      </p:sp>
      <p:sp>
        <p:nvSpPr>
          <p:cNvPr id="9" name="Resultado Token"/>
          <p:cNvSpPr/>
          <p:nvPr/>
        </p:nvSpPr>
        <p:spPr>
          <a:xfrm>
            <a:off x="8595360" y="411480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Resultado Token texto"/>
          <p:cNvSpPr txBox="1"/>
          <p:nvPr/>
        </p:nvSpPr>
        <p:spPr>
          <a:xfrm>
            <a:off x="8778240" y="41148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Token: 201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hasta que expire</a:t>
            </a:r>
            <a:endParaRPr lang="en-US" sz="2000" dirty="0"/>
          </a:p>
        </p:txBody>
      </p:sp>
      <p:sp>
        <p:nvSpPr>
          <p:cNvPr id="11" name="Cómo se cambia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 cambia con Permissions:Source en appsettings.json: no requiere tocar código.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Qué pasa en cada petición (Lookup)</a:t>
            </a:r>
            <a:endParaRPr lang="en-US" sz="3600" dirty="0"/>
          </a:p>
        </p:txBody>
      </p:sp>
      <p:sp>
        <p:nvSpPr>
          <p:cNvPr id="3" name="Ejemplo de petición"/>
          <p:cNvSpPr txBox="1"/>
          <p:nvPr/>
        </p:nvSpPr>
        <p:spPr>
          <a:xfrm>
            <a:off x="548640" y="1325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Ejemplo: DELETE /Products/1 con el token de manager@example.com</a:t>
            </a:r>
            <a:endParaRPr lang="en-US" sz="1400" dirty="0"/>
          </a:p>
        </p:txBody>
      </p:sp>
      <p:sp>
        <p:nvSpPr>
          <p:cNvPr id="4" name="Paso petición 1"/>
          <p:cNvSpPr/>
          <p:nvPr/>
        </p:nvSpPr>
        <p:spPr>
          <a:xfrm>
            <a:off x="548640" y="18928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o petición 1 (número)"/>
          <p:cNvSpPr txBox="1"/>
          <p:nvPr/>
        </p:nvSpPr>
        <p:spPr>
          <a:xfrm>
            <a:off x="54864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aso petición 1 texto"/>
          <p:cNvSpPr txBox="1"/>
          <p:nvPr/>
        </p:nvSpPr>
        <p:spPr>
          <a:xfrm>
            <a:off x="1234440" y="17830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Valida el token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JwtBearer comprueba firma, emisor, audiencia y expiración.</a:t>
            </a:r>
            <a:endParaRPr lang="en-US" sz="1600" dirty="0"/>
          </a:p>
        </p:txBody>
      </p:sp>
      <p:sp>
        <p:nvSpPr>
          <p:cNvPr id="7" name="Paso petición 2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o petición 2 (número)"/>
          <p:cNvSpPr txBox="1"/>
          <p:nvPr/>
        </p:nvSpPr>
        <p:spPr>
          <a:xfrm>
            <a:off x="5486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Paso petición 2 texto"/>
          <p:cNvSpPr txBox="1"/>
          <p:nvPr/>
        </p:nvSpPr>
        <p:spPr>
          <a:xfrm>
            <a:off x="1234440" y="2651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Crea la política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[Authorize(Policy = Permissions.Products.Delete)]: el proveedor la fabrica por su prefijo.</a:t>
            </a:r>
            <a:endParaRPr lang="en-US" sz="1600" dirty="0"/>
          </a:p>
        </p:txBody>
      </p:sp>
      <p:sp>
        <p:nvSpPr>
          <p:cNvPr id="10" name="Paso petición 3"/>
          <p:cNvSpPr/>
          <p:nvPr/>
        </p:nvSpPr>
        <p:spPr>
          <a:xfrm>
            <a:off x="548640" y="36301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aso petición 3 (número)"/>
          <p:cNvSpPr txBox="1"/>
          <p:nvPr/>
        </p:nvSpPr>
        <p:spPr>
          <a:xfrm>
            <a:off x="5486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Paso petición 3 texto"/>
          <p:cNvSpPr txBox="1"/>
          <p:nvPr/>
        </p:nvSpPr>
        <p:spPr>
          <a:xfrm>
            <a:off x="1234440" y="3520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Lee los roles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El handler toma el claim role del token: Manager.</a:t>
            </a:r>
            <a:endParaRPr lang="en-US" sz="1600" dirty="0"/>
          </a:p>
        </p:txBody>
      </p:sp>
      <p:sp>
        <p:nvSpPr>
          <p:cNvPr id="13" name="Paso petición 4"/>
          <p:cNvSpPr/>
          <p:nvPr/>
        </p:nvSpPr>
        <p:spPr>
          <a:xfrm>
            <a:off x="548640" y="44988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Paso petición 4 (número)"/>
          <p:cNvSpPr txBox="1"/>
          <p:nvPr/>
        </p:nvSpPr>
        <p:spPr>
          <a:xfrm>
            <a:off x="54864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Paso petición 4 texto"/>
          <p:cNvSpPr txBox="1"/>
          <p:nvPr/>
        </p:nvSpPr>
        <p:spPr>
          <a:xfrm>
            <a:off x="1234440" y="4389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Busca los permisos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El PermissionStore devuelve los del rol: caché o AspNetRoleClaims.</a:t>
            </a:r>
            <a:endParaRPr lang="en-US" sz="1600" dirty="0"/>
          </a:p>
        </p:txBody>
      </p:sp>
      <p:sp>
        <p:nvSpPr>
          <p:cNvPr id="16" name="Paso petición 5"/>
          <p:cNvSpPr/>
          <p:nvPr/>
        </p:nvSpPr>
        <p:spPr>
          <a:xfrm>
            <a:off x="548640" y="536752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Paso petición 5 (número)"/>
          <p:cNvSpPr txBox="1"/>
          <p:nvPr/>
        </p:nvSpPr>
        <p:spPr>
          <a:xfrm>
            <a:off x="54864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Paso petición 5 texto"/>
          <p:cNvSpPr txBox="1"/>
          <p:nvPr/>
        </p:nvSpPr>
        <p:spPr>
          <a:xfrm>
            <a:off x="1234440" y="5257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Resultado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Delete no está en el conjunto de Manager: 403 Forbidden.</a:t>
            </a:r>
            <a:endParaRPr lang="en-US" sz="1600" dirty="0"/>
          </a:p>
        </p:txBody>
      </p:sp>
      <p:sp>
        <p:nvSpPr>
          <p:cNvPr id="19" name="Tarjeta store"/>
          <p:cNvSpPr/>
          <p:nvPr/>
        </p:nvSpPr>
        <p:spPr>
          <a:xfrm>
            <a:off x="7680960" y="1965960"/>
            <a:ext cx="3977640" cy="38862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tore título"/>
          <p:cNvSpPr txBox="1"/>
          <p:nvPr/>
        </p:nvSpPr>
        <p:spPr>
          <a:xfrm>
            <a:off x="7955280" y="2194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PermissionStore</a:t>
            </a:r>
            <a:endParaRPr lang="en-US" sz="1600" dirty="0"/>
          </a:p>
        </p:txBody>
      </p:sp>
      <p:sp>
        <p:nvSpPr>
          <p:cNvPr id="21" name="Store subtítulo"/>
          <p:cNvSpPr txBox="1"/>
          <p:nvPr/>
        </p:nvSpPr>
        <p:spPr>
          <a:xfrm>
            <a:off x="795528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Permisos de Products por rol (resumen)</a:t>
            </a:r>
            <a:endParaRPr lang="en-US" sz="1300" dirty="0"/>
          </a:p>
        </p:txBody>
      </p:sp>
      <p:graphicFrame>
        <p:nvGraphicFramePr>
          <p:cNvPr id="10" name="Tabla del sto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3017520"/>
          <a:ext cx="3429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Permisos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View, Create, Edit, 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View, Create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Notas del store"/>
          <p:cNvSpPr txBox="1"/>
          <p:nvPr/>
        </p:nvSpPr>
        <p:spPr>
          <a:xfrm>
            <a:off x="7955280" y="48463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En modo Token los pasos 3 y 4 leen los claims permission del token.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Sin identidad: 401, no 403.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Cambiar permisos sin redesplegar</a:t>
            </a:r>
            <a:endParaRPr lang="en-US" sz="3600" dirty="0"/>
          </a:p>
        </p:txBody>
      </p:sp>
      <p:sp>
        <p:nvSpPr>
          <p:cNvPr id="3" name="Paso gestión 1"/>
          <p:cNvSpPr/>
          <p:nvPr/>
        </p:nvSpPr>
        <p:spPr>
          <a:xfrm>
            <a:off x="548640" y="1463040"/>
            <a:ext cx="2542032" cy="2926080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so gestión 1 círculo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o gestión 1 círculo (número)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aso gestión 1 título"/>
          <p:cNvSpPr txBox="1"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Llamada del Admin</a:t>
            </a:r>
            <a:endParaRPr lang="en-US" sz="1800" dirty="0"/>
          </a:p>
        </p:txBody>
      </p:sp>
      <p:sp>
        <p:nvSpPr>
          <p:cNvPr id="7" name="Paso gestión 1 detalle"/>
          <p:cNvSpPr txBox="1"/>
          <p:nvPr/>
        </p:nvSpPr>
        <p:spPr>
          <a:xfrm>
            <a:off x="77724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El Admin quita un permiso al rol Manager con una llamada DELETE.</a:t>
            </a:r>
            <a:endParaRPr lang="en-US" sz="1400" dirty="0"/>
          </a:p>
        </p:txBody>
      </p:sp>
      <p:sp>
        <p:nvSpPr>
          <p:cNvPr id="8" name="Paso gestión 1 etiqueta"/>
          <p:cNvSpPr txBox="1"/>
          <p:nvPr/>
        </p:nvSpPr>
        <p:spPr>
          <a:xfrm>
            <a:off x="777240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admin/roles</a:t>
            </a:r>
            <a:endParaRPr lang="en-US" sz="1200" dirty="0"/>
          </a:p>
        </p:txBody>
      </p:sp>
      <p:sp>
        <p:nvSpPr>
          <p:cNvPr id="9" name="Flecha gestión 1"/>
          <p:cNvSpPr/>
          <p:nvPr/>
        </p:nvSpPr>
        <p:spPr>
          <a:xfrm>
            <a:off x="3136392" y="2788920"/>
            <a:ext cx="210312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o gestión 2"/>
          <p:cNvSpPr/>
          <p:nvPr/>
        </p:nvSpPr>
        <p:spPr>
          <a:xfrm>
            <a:off x="3392424" y="1463040"/>
            <a:ext cx="2542032" cy="2926080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aso gestión 2 círculo"/>
          <p:cNvSpPr/>
          <p:nvPr/>
        </p:nvSpPr>
        <p:spPr>
          <a:xfrm>
            <a:off x="3621024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aso gestión 2 círculo (número)"/>
          <p:cNvSpPr txBox="1"/>
          <p:nvPr/>
        </p:nvSpPr>
        <p:spPr>
          <a:xfrm>
            <a:off x="3621024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Paso gestión 2 título"/>
          <p:cNvSpPr txBox="1"/>
          <p:nvPr/>
        </p:nvSpPr>
        <p:spPr>
          <a:xfrm>
            <a:off x="3621024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PermissionStore</a:t>
            </a:r>
            <a:endParaRPr lang="en-US" sz="1800" dirty="0"/>
          </a:p>
        </p:txBody>
      </p:sp>
      <p:sp>
        <p:nvSpPr>
          <p:cNvPr id="14" name="Paso gestión 2 detalle"/>
          <p:cNvSpPr txBox="1"/>
          <p:nvPr/>
        </p:nvSpPr>
        <p:spPr>
          <a:xfrm>
            <a:off x="3621024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RevokeAsync busca el rol y el claim del permiso.</a:t>
            </a:r>
            <a:endParaRPr lang="en-US" sz="1400" dirty="0"/>
          </a:p>
        </p:txBody>
      </p:sp>
      <p:sp>
        <p:nvSpPr>
          <p:cNvPr id="15" name="Paso gestión 2 etiqueta"/>
          <p:cNvSpPr txBox="1"/>
          <p:nvPr/>
        </p:nvSpPr>
        <p:spPr>
          <a:xfrm>
            <a:off x="3621024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RevokeAsync</a:t>
            </a:r>
            <a:endParaRPr lang="en-US" sz="1200" dirty="0"/>
          </a:p>
        </p:txBody>
      </p:sp>
      <p:sp>
        <p:nvSpPr>
          <p:cNvPr id="16" name="Flecha gestión 2"/>
          <p:cNvSpPr/>
          <p:nvPr/>
        </p:nvSpPr>
        <p:spPr>
          <a:xfrm>
            <a:off x="5980176" y="2788920"/>
            <a:ext cx="210312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o gestión 3"/>
          <p:cNvSpPr/>
          <p:nvPr/>
        </p:nvSpPr>
        <p:spPr>
          <a:xfrm>
            <a:off x="6236208" y="1463040"/>
            <a:ext cx="2542032" cy="2926080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Paso gestión 3 círculo"/>
          <p:cNvSpPr/>
          <p:nvPr/>
        </p:nvSpPr>
        <p:spPr>
          <a:xfrm>
            <a:off x="6464808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Paso gestión 3 círculo (número)"/>
          <p:cNvSpPr txBox="1"/>
          <p:nvPr/>
        </p:nvSpPr>
        <p:spPr>
          <a:xfrm>
            <a:off x="646480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Paso gestión 3 título"/>
          <p:cNvSpPr txBox="1"/>
          <p:nvPr/>
        </p:nvSpPr>
        <p:spPr>
          <a:xfrm>
            <a:off x="6464808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Base de datos</a:t>
            </a:r>
            <a:endParaRPr lang="en-US" sz="1800" dirty="0"/>
          </a:p>
        </p:txBody>
      </p:sp>
      <p:sp>
        <p:nvSpPr>
          <p:cNvPr id="21" name="Paso gestión 3 detalle"/>
          <p:cNvSpPr txBox="1"/>
          <p:nvPr/>
        </p:nvSpPr>
        <p:spPr>
          <a:xfrm>
            <a:off x="6464808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RemoveClaimAsync borra la fila del rol.</a:t>
            </a:r>
            <a:endParaRPr lang="en-US" sz="1400" dirty="0"/>
          </a:p>
        </p:txBody>
      </p:sp>
      <p:sp>
        <p:nvSpPr>
          <p:cNvPr id="22" name="Paso gestión 3 etiqueta"/>
          <p:cNvSpPr txBox="1"/>
          <p:nvPr/>
        </p:nvSpPr>
        <p:spPr>
          <a:xfrm>
            <a:off x="6464808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AspNetRoleClaims</a:t>
            </a:r>
            <a:endParaRPr lang="en-US" sz="1200" dirty="0"/>
          </a:p>
        </p:txBody>
      </p:sp>
      <p:sp>
        <p:nvSpPr>
          <p:cNvPr id="23" name="Flecha gestión 3"/>
          <p:cNvSpPr/>
          <p:nvPr/>
        </p:nvSpPr>
        <p:spPr>
          <a:xfrm>
            <a:off x="8823960" y="2788920"/>
            <a:ext cx="210312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Paso gestión 4"/>
          <p:cNvSpPr/>
          <p:nvPr/>
        </p:nvSpPr>
        <p:spPr>
          <a:xfrm>
            <a:off x="9079992" y="1463040"/>
            <a:ext cx="2542032" cy="2926080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Paso gestión 4 círculo"/>
          <p:cNvSpPr/>
          <p:nvPr/>
        </p:nvSpPr>
        <p:spPr>
          <a:xfrm>
            <a:off x="9308592" y="16459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Paso gestión 4 círculo (número)"/>
          <p:cNvSpPr txBox="1"/>
          <p:nvPr/>
        </p:nvSpPr>
        <p:spPr>
          <a:xfrm>
            <a:off x="930859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Paso gestión 4 título"/>
          <p:cNvSpPr txBox="1"/>
          <p:nvPr/>
        </p:nvSpPr>
        <p:spPr>
          <a:xfrm>
            <a:off x="9308592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Caché</a:t>
            </a:r>
            <a:endParaRPr lang="en-US" sz="1800" dirty="0"/>
          </a:p>
        </p:txBody>
      </p:sp>
      <p:sp>
        <p:nvSpPr>
          <p:cNvPr id="28" name="Paso gestión 4 detalle"/>
          <p:cNvSpPr txBox="1"/>
          <p:nvPr/>
        </p:nvSpPr>
        <p:spPr>
          <a:xfrm>
            <a:off x="9308592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 expulsa la entrada del rol Manager.</a:t>
            </a:r>
            <a:endParaRPr lang="en-US" sz="1400" dirty="0"/>
          </a:p>
        </p:txBody>
      </p:sp>
      <p:sp>
        <p:nvSpPr>
          <p:cNvPr id="29" name="Paso gestión 4 etiqueta"/>
          <p:cNvSpPr txBox="1"/>
          <p:nvPr/>
        </p:nvSpPr>
        <p:spPr>
          <a:xfrm>
            <a:off x="9308592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_cache.TryRemove</a:t>
            </a:r>
            <a:endParaRPr lang="en-US" sz="1200" dirty="0"/>
          </a:p>
        </p:txBody>
      </p:sp>
      <p:sp>
        <p:nvSpPr>
          <p:cNvPr id="30" name="Banda conclusión gestión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o conclusión gestión"/>
          <p:cNvSpPr txBox="1"/>
          <p:nvPr/>
        </p:nvSpPr>
        <p:spPr>
          <a:xfrm>
            <a:off x="914400" y="466344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Cada Manager pierde el permiso en su siguiente petición (modo Lookup).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Con roles en los atributos, esto exigiría cambiar el código y redesplegar. Aquí es una llamada a la API.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Qué puede hacer cada usuario</a:t>
            </a:r>
            <a:endParaRPr lang="en-US" sz="3600" dirty="0"/>
          </a:p>
        </p:txBody>
      </p:sp>
      <p:graphicFrame>
        <p:nvGraphicFramePr>
          <p:cNvPr id="12" name="Matriz de permisos por módu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56692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Usuario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Products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Orders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6692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Create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Edit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Create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Edit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admin@example.com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manager@example.com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user@example.com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Idea matriz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Cada módulo se concede por separado: User ve Products, pero no tiene ningún permiso de Orders.</a:t>
            </a:r>
            <a:endParaRPr lang="en-US" sz="2000" dirty="0"/>
          </a:p>
        </p:txBody>
      </p:sp>
      <p:sp>
        <p:nvSpPr>
          <p:cNvPr id="5" name="Códigos de respuesta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Resultados reales: sin token 401; con token pero sin el permiso, 403.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Añadir un módulo nuevo</a:t>
            </a:r>
            <a:endParaRPr lang="en-US" sz="3600" dirty="0"/>
          </a:p>
        </p:txBody>
      </p:sp>
      <p:sp>
        <p:nvSpPr>
          <p:cNvPr id="3" name="Paso módulo 1"/>
          <p:cNvSpPr/>
          <p:nvPr/>
        </p:nvSpPr>
        <p:spPr>
          <a:xfrm>
            <a:off x="548640" y="1536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aso módulo 1 (número)"/>
          <p:cNvSpPr txBox="1"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Paso módulo 1 texto"/>
          <p:cNvSpPr txBox="1"/>
          <p:nvPr/>
        </p:nvSpPr>
        <p:spPr>
          <a:xfrm>
            <a:off x="1234440" y="1463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Declarar la clase del módulo con sus cuatro constantes.</a:t>
            </a:r>
            <a:endParaRPr lang="en-US" sz="1600" dirty="0"/>
          </a:p>
        </p:txBody>
      </p:sp>
      <p:sp>
        <p:nvSpPr>
          <p:cNvPr id="6" name="Paso módulo 2"/>
          <p:cNvSpPr/>
          <p:nvPr/>
        </p:nvSpPr>
        <p:spPr>
          <a:xfrm>
            <a:off x="548640" y="23042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aso módulo 2 (número)"/>
          <p:cNvSpPr txBox="1"/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Paso módulo 2 texto"/>
          <p:cNvSpPr txBox="1"/>
          <p:nvPr/>
        </p:nvSpPr>
        <p:spPr>
          <a:xfrm>
            <a:off x="1234440" y="22311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Añadir su nombre a Modules: All lo incluye solo.</a:t>
            </a:r>
            <a:endParaRPr lang="en-US" sz="1600" dirty="0"/>
          </a:p>
        </p:txBody>
      </p:sp>
      <p:sp>
        <p:nvSpPr>
          <p:cNvPr id="9" name="Paso módulo 3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aso módulo 3 (número)"/>
          <p:cNvSpPr txBox="1"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Paso módulo 3 texto"/>
          <p:cNvSpPr txBox="1"/>
          <p:nvPr/>
        </p:nvSpPr>
        <p:spPr>
          <a:xfrm>
            <a:off x="1234440" y="29992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Concederlo a los roles; el comodín Orders.* evita escribir los cuatro.</a:t>
            </a:r>
            <a:endParaRPr lang="en-US" sz="1600" dirty="0"/>
          </a:p>
        </p:txBody>
      </p:sp>
      <p:sp>
        <p:nvSpPr>
          <p:cNvPr id="12" name="Paso módulo 4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aso módulo 4 (número)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Paso módulo 4 texto"/>
          <p:cNvSpPr txBox="1"/>
          <p:nvPr/>
        </p:nvSpPr>
        <p:spPr>
          <a:xfrm>
            <a:off x="1234440" y="37673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Crear el controller con [Authorize(Policy = ...)].</a:t>
            </a:r>
            <a:endParaRPr lang="en-US" sz="1600" dirty="0"/>
          </a:p>
        </p:txBody>
      </p:sp>
      <p:sp>
        <p:nvSpPr>
          <p:cNvPr id="15" name="Paso módulo 5"/>
          <p:cNvSpPr/>
          <p:nvPr/>
        </p:nvSpPr>
        <p:spPr>
          <a:xfrm>
            <a:off x="548640" y="4608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aso módulo 5 (número)"/>
          <p:cNvSpPr txBox="1"/>
          <p:nvPr/>
        </p:nvSpPr>
        <p:spPr>
          <a:xfrm>
            <a:off x="5486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Paso módulo 5 texto"/>
          <p:cNvSpPr txBox="1"/>
          <p:nvPr/>
        </p:nvSpPr>
        <p:spPr>
          <a:xfrm>
            <a:off x="1234440" y="45354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Registrar su almacén de datos en Program.cs.</a:t>
            </a:r>
            <a:endParaRPr lang="en-US" sz="1600" dirty="0"/>
          </a:p>
        </p:txBody>
      </p:sp>
      <p:sp>
        <p:nvSpPr>
          <p:cNvPr id="18" name="Tarjeta código módulo"/>
          <p:cNvSpPr/>
          <p:nvPr/>
        </p:nvSpPr>
        <p:spPr>
          <a:xfrm>
            <a:off x="6492240" y="1463040"/>
            <a:ext cx="5166360" cy="38862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Código módulo título"/>
          <p:cNvSpPr txBox="1"/>
          <p:nvPr/>
        </p:nvSpPr>
        <p:spPr>
          <a:xfrm>
            <a:off x="676656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Entities/Permissions.cs</a:t>
            </a:r>
            <a:endParaRPr lang="en-US" sz="1400" dirty="0"/>
          </a:p>
        </p:txBody>
      </p:sp>
      <p:sp>
        <p:nvSpPr>
          <p:cNvPr id="20" name="Código clase Orders"/>
          <p:cNvSpPr/>
          <p:nvPr/>
        </p:nvSpPr>
        <p:spPr>
          <a:xfrm>
            <a:off x="6766560" y="2057400"/>
            <a:ext cx="4617720" cy="192024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Código clase Orders (texto)"/>
          <p:cNvSpPr txBox="1"/>
          <p:nvPr/>
        </p:nvSpPr>
        <p:spPr>
          <a:xfrm>
            <a:off x="6995160" y="219456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class 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const string View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"Permissions.Orders.View";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Create, Edit y Delete igual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 = [nameof(Products),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nameof(Orders)];</a:t>
            </a:r>
            <a:endParaRPr lang="en-US" sz="1100" dirty="0"/>
          </a:p>
        </p:txBody>
      </p:sp>
      <p:sp>
        <p:nvSpPr>
          <p:cNvPr id="22" name="Código seed título"/>
          <p:cNvSpPr txBox="1"/>
          <p:nvPr/>
        </p:nvSpPr>
        <p:spPr>
          <a:xfrm>
            <a:off x="676656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appsettings.json, Seed:RolePermissions</a:t>
            </a:r>
            <a:endParaRPr lang="en-US" sz="1300" dirty="0"/>
          </a:p>
        </p:txBody>
      </p:sp>
      <p:sp>
        <p:nvSpPr>
          <p:cNvPr id="23" name="Código seed comodín"/>
          <p:cNvSpPr/>
          <p:nvPr/>
        </p:nvSpPr>
        <p:spPr>
          <a:xfrm>
            <a:off x="6766560" y="4434840"/>
            <a:ext cx="46177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Código seed comodín (texto)"/>
          <p:cNvSpPr txBox="1"/>
          <p:nvPr/>
        </p:nvSpPr>
        <p:spPr>
          <a:xfrm>
            <a:off x="6995160" y="4572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"Admin": [ "Permissions.Orders.*" ]</a:t>
            </a:r>
            <a:endParaRPr lang="en-US" sz="1200" dirty="0"/>
          </a:p>
        </p:txBody>
      </p:sp>
      <p:sp>
        <p:nvSpPr>
          <p:cNvPr id="25" name="Conclusión módulo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hay que tocar el handler, el proveedor de políticas ni el PermissionStore.</a:t>
            </a:r>
            <a:endParaRPr lang="en-US" sz="1800" dirty="0"/>
          </a:p>
        </p:txBody>
      </p:sp>
      <p:sp>
        <p:nvSpPr>
          <p:cNvPr id="26" name="Advertencia módulo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Si olvidas Modules, el seed descarta los permisos y el endpoint de gestión responde 400.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 esencial</a:t>
            </a:r>
            <a:endParaRPr lang="en-US" sz="3600" dirty="0"/>
          </a:p>
        </p:txBody>
      </p:sp>
      <p:sp>
        <p:nvSpPr>
          <p:cNvPr id="3" name="Idea 1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dea 1 (número)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Idea 1 texto"/>
          <p:cNvSpPr txBox="1"/>
          <p:nvPr/>
        </p:nvSpPr>
        <p:spPr>
          <a:xfrm>
            <a:off x="1280160" y="1463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Los permisos son claims del rol (AspNetRoleClaims), no del usuario.</a:t>
            </a:r>
            <a:endParaRPr lang="en-US" sz="1600" dirty="0"/>
          </a:p>
        </p:txBody>
      </p:sp>
      <p:sp>
        <p:nvSpPr>
          <p:cNvPr id="6" name="Idea 2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dea 2 (número)"/>
          <p:cNvSpPr txBox="1"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Idea 2 texto"/>
          <p:cNvSpPr txBox="1"/>
          <p:nvPr/>
        </p:nvSpPr>
        <p:spPr>
          <a:xfrm>
            <a:off x="1280160" y="2606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El JWT siempre lleva identidad, roles y claims; los permisos, solo en modo Token.</a:t>
            </a:r>
            <a:endParaRPr lang="en-US" sz="1600" dirty="0"/>
          </a:p>
        </p:txBody>
      </p:sp>
      <p:sp>
        <p:nvSpPr>
          <p:cNvPr id="9" name="Idea 3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dea 3 (número)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Idea 3 texto"/>
          <p:cNvSpPr txBox="1"/>
          <p:nvPr/>
        </p:nvSpPr>
        <p:spPr>
          <a:xfrm>
            <a:off x="1280160" y="3749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En modo Lookup el handler consulta el PermissionStore por rol, con caché.</a:t>
            </a:r>
            <a:endParaRPr lang="en-US" sz="1600" dirty="0"/>
          </a:p>
        </p:txBody>
      </p:sp>
      <p:sp>
        <p:nvSpPr>
          <p:cNvPr id="12" name="Idea 4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dea 4 (número)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Idea 4 texto"/>
          <p:cNvSpPr txBox="1"/>
          <p:nvPr/>
        </p:nvSpPr>
        <p:spPr>
          <a:xfrm>
            <a:off x="1280160" y="4892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Cambiar lo que puede hacer un rol es una llamada a la API; un módulo nuevo es una clase y una línea.</a:t>
            </a:r>
            <a:endParaRPr lang="en-US" sz="1600" dirty="0"/>
          </a:p>
        </p:txBody>
      </p:sp>
      <p:graphicFrame>
        <p:nvGraphicFramePr>
          <p:cNvPr id="14" name="Mapa de archiv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463040"/>
          <a:ext cx="612648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Archivo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Responsabilidad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Entities/Permissions.cs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Módulos, constantes y comodines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Authorization/PermissionPolicyProvider.cs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Fabrica la política por prefijo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Authorization/PermissionAuthorizationHandler.cs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Decide según el modo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Authorization/PermissionStore.cs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Lee y cambia permisos con caché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Auth/TokenService.cs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Graba permisos si es modo Token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Controllers/RolePermissionsController.cs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Gestión en caliente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WT y permisos">
  <a:themeElements>
    <a:clrScheme name="JWT y permisos">
      <a:dk1>
        <a:srgbClr val="0B1F26"/>
      </a:dk1>
      <a:lt1>
        <a:srgbClr val="FFFFFF"/>
      </a:lt1>
      <a:dk2>
        <a:srgbClr val="0F3D48"/>
      </a:dk2>
      <a:lt2>
        <a:srgbClr val="EAF1F3"/>
      </a:lt2>
      <a:accent1>
        <a:srgbClr val="1F7A8C"/>
      </a:accent1>
      <a:accent2>
        <a:srgbClr val="F2A541"/>
      </a:accent2>
      <a:accent3>
        <a:srgbClr val="2E7D5B"/>
      </a:accent3>
      <a:accent4>
        <a:srgbClr val="C0392B"/>
      </a:accent4>
      <a:accent5>
        <a:srgbClr val="5F7380"/>
      </a:accent5>
      <a:accent6>
        <a:srgbClr val="7B6FB0"/>
      </a:accent6>
      <a:hlink>
        <a:srgbClr val="1F7A8C"/>
      </a:hlink>
      <a:folHlink>
        <a:srgbClr val="5F7380"/>
      </a:folHlink>
    </a:clrScheme>
    <a:fontScheme name="JWT y permis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la base de datos al JWT: permisos como claims de los roles</dc:title>
  <dc:subject>Roles, permisos, PermissionStore y modos Token/Lookup</dc:subject>
  <dc:creator>Guía de estudio</dc:creator>
  <cp:lastModifiedBy>Guía de estudio</cp:lastModifiedBy>
  <cp:revision>1</cp:revision>
  <dcterms:created xsi:type="dcterms:W3CDTF">2026-10-14T15:39:33Z</dcterms:created>
  <dcterms:modified xsi:type="dcterms:W3CDTF">2026-10-14T15:39:33Z</dcterms:modified>
</cp:coreProperties>
</file>